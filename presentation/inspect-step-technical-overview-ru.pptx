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2400" b="1"/>
              <a:t>«Боль»: printf-debugging вместо debugger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400"/>
              <a:t>В Ansible нет штатного интерактивного debugger уровня IDE: на практике диагностика часто превращается в </a:t>
            </a:r>
            <a:r>
              <a:rPr sz="1400">
                <a:latin typeface="Courier"/>
              </a:rPr>
              <a:t>ansible.builtin.debug</a:t>
            </a:r>
            <a:r>
              <a:rPr sz="1400"/>
              <a:t> + повторный запуск. Типичный цикл диагностики:</a:t>
            </a:r>
          </a:p>
          <a:p>
            <a:pPr lvl="0" indent="0">
              <a:buNone/>
            </a:pPr>
            <a:r>
              <a:rPr sz="1400">
                <a:latin typeface="Courier"/>
              </a:rPr>
              <a:t>гипотеза → добавить debug → запустить playbook → найти нужный host
         → изменить debug → снова запустить → удалить debug</a:t>
            </a:r>
          </a:p>
          <a:p>
            <a:pPr lvl="0"/>
            <a:r>
              <a:rPr sz="1400"/>
              <a:t>Диагностические task временно попадают в playbook/role и могут остаться в коде.</a:t>
            </a:r>
          </a:p>
          <a:p>
            <a:pPr lvl="0"/>
            <a:r>
              <a:rPr sz="1400"/>
              <a:t>Для каждой новой гипотезы нужен новый запуск и повторное прохождение предыдущих task.</a:t>
            </a:r>
          </a:p>
          <a:p>
            <a:pPr lvl="0"/>
            <a:r>
              <a:rPr sz="1400"/>
              <a:t>Большие </a:t>
            </a:r>
            <a:r>
              <a:rPr sz="1400">
                <a:latin typeface="Courier"/>
              </a:rPr>
              <a:t>hostvars</a:t>
            </a:r>
            <a:r>
              <a:rPr sz="1400"/>
              <a:t> и facts создают шум; значения разных hosts трудно сопоставлять.</a:t>
            </a:r>
          </a:p>
          <a:p>
            <a:pPr lvl="0"/>
            <a:r>
              <a:rPr sz="1400"/>
              <a:t>Ошибка template, lookup, condition или variable precedence часто видна только в момент выполнения.</a:t>
            </a:r>
          </a:p>
          <a:p>
            <a:pPr lvl="0"/>
            <a:r>
              <a:rPr sz="1400"/>
              <a:t>После failed task стандартный play обычно уже не даёт исследовать и продолжить тот же сценарий.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2400" b="1"/>
              <a:t>inspect_step - Интерактивная отладка Ansible playbooks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400">
                <a:latin typeface="Courier"/>
              </a:rPr>
              <a:t>inspect_step</a:t>
            </a:r>
            <a:r>
              <a:rPr sz="1400"/>
              <a:t> останавливает выполнение </a:t>
            </a:r>
            <a:r>
              <a:rPr b="1" sz="1400"/>
              <a:t>до постановки task в очередь</a:t>
            </a:r>
            <a:r>
              <a:rPr sz="1400"/>
              <a:t> и показывает её реальный host-контекст.</a:t>
            </a:r>
          </a:p>
          <a:p>
            <a:pPr lvl="0"/>
            <a:r>
              <a:rPr sz="1400"/>
              <a:t>Инженер может исследовать variables, Jinja, </a:t>
            </a:r>
            <a:r>
              <a:rPr sz="1400">
                <a:latin typeface="Courier"/>
              </a:rPr>
              <a:t>when</a:t>
            </a:r>
            <a:r>
              <a:rPr sz="1400"/>
              <a:t>, loop items, template и аргументы, а затем выполнить, пропустить или продолжить play.</a:t>
            </a:r>
          </a:p>
          <a:p>
            <a:pPr lvl="0"/>
            <a:r>
              <a:rPr sz="1400"/>
              <a:t>Решение не меняет executor Ansible: это controller-side strategy plugin поверх штатной </a:t>
            </a:r>
            <a:r>
              <a:rPr sz="1400">
                <a:latin typeface="Courier"/>
              </a:rPr>
              <a:t>linear</a:t>
            </a:r>
            <a:r>
              <a:rPr sz="1400"/>
              <a:t>.</a:t>
            </a:r>
          </a:p>
          <a:p>
            <a:pPr lvl="0"/>
            <a:r>
              <a:rPr sz="1400"/>
              <a:t>Техническая совместимость: </a:t>
            </a:r>
            <a:r>
              <a:rPr b="1" sz="1400"/>
              <a:t>ansible-core 2.12–2.13</a:t>
            </a:r>
            <a:r>
              <a:rPr sz="1400"/>
              <a:t>; основная протестированная версия: </a:t>
            </a:r>
            <a:r>
              <a:rPr b="1" sz="1400"/>
              <a:t>2.13.13</a:t>
            </a:r>
            <a:r>
              <a:rPr sz="1400"/>
              <a:t>.</a:t>
            </a:r>
          </a:p>
          <a:p>
            <a:pPr lvl="0"/>
            <a:r>
              <a:rPr sz="1400"/>
              <a:t>При запуске версия проверяется: ниже 2.12 выводится warning о partial compatibility, а 2.14+ отклоняется до вызова несовместимого API.</a:t>
            </a:r>
          </a:p>
          <a:p>
            <a:pPr lvl="0"/>
            <a:r>
              <a:rPr sz="1400"/>
              <a:t>Граница вызвана наследованием </a:t>
            </a:r>
            <a:r>
              <a:rPr sz="1400">
                <a:latin typeface="Courier"/>
              </a:rPr>
              <a:t>linear.StrategyModule</a:t>
            </a:r>
            <a:r>
              <a:rPr sz="1400"/>
              <a:t> и использованием internal hooks без стабильного public-контракта.</a:t>
            </a:r>
          </a:p>
          <a:p>
            <a:pPr lvl="0"/>
            <a:r>
              <a:rPr sz="1400"/>
              <a:t>Python должен поддерживаться выбранным выпуском </a:t>
            </a:r>
            <a:r>
              <a:rPr sz="1400">
                <a:latin typeface="Courier"/>
              </a:rPr>
              <a:t>ansible-core</a:t>
            </a:r>
            <a:r>
              <a:rPr sz="1400"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2400" b="1"/>
              <a:t>Почему штатных механизмов недостаточно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400">
                <a:latin typeface="Courier"/>
              </a:rPr>
              <a:t>ansible.builtin.debug</a:t>
            </a:r>
            <a:r>
              <a:rPr sz="1400"/>
              <a:t> — печатает заранее выбранное значение, но требует изменения кода и перезапуска.</a:t>
            </a:r>
          </a:p>
          <a:p>
            <a:pPr lvl="0"/>
            <a:r>
              <a:rPr sz="1400">
                <a:latin typeface="Courier"/>
              </a:rPr>
              <a:t>-vvv</a:t>
            </a:r>
            <a:r>
              <a:rPr sz="1400"/>
              <a:t> — даёт подробный журнал executor, но не интерактивное состояние перед task.</a:t>
            </a:r>
          </a:p>
          <a:p>
            <a:pPr lvl="0"/>
            <a:r>
              <a:rPr sz="1400"/>
              <a:t>Обычный </a:t>
            </a:r>
            <a:r>
              <a:rPr sz="1400">
                <a:latin typeface="Courier"/>
              </a:rPr>
              <a:t>--step</a:t>
            </a:r>
            <a:r>
              <a:rPr sz="1400"/>
              <a:t> — спрашивает запуск/пропуск, но не позволяет исследовать variables, шаблоны и conditions.</a:t>
            </a:r>
          </a:p>
          <a:p>
            <a:pPr lvl="0"/>
            <a:r>
              <a:rPr sz="1400">
                <a:latin typeface="Courier"/>
              </a:rPr>
              <a:t>--check --diff</a:t>
            </a:r>
            <a:r>
              <a:rPr sz="1400"/>
              <a:t> — прогнозирует изменения только настолько хорошо, насколько это поддерживает конкретный модуль.</a:t>
            </a:r>
          </a:p>
          <a:p>
            <a:pPr lvl="0"/>
            <a:r>
              <a:rPr sz="1400"/>
              <a:t>Tags и </a:t>
            </a:r>
            <a:r>
              <a:rPr sz="1400">
                <a:latin typeface="Courier"/>
              </a:rPr>
              <a:t>--start-at-task</a:t>
            </a:r>
            <a:r>
              <a:rPr sz="1400"/>
              <a:t> — помогают навигации, но не дают breakpoint с просмотром runtime-контекста.</a:t>
            </a:r>
          </a:p>
          <a:p>
            <a:pPr lvl="0" indent="0" marL="0">
              <a:buNone/>
            </a:pPr>
            <a:r>
              <a:rPr b="1" sz="1400"/>
              <a:t>Пробел:</a:t>
            </a:r>
            <a:r>
              <a:rPr sz="1400"/>
              <a:t> нет единой точки, где можно остановиться перед task, задать несколько вопросов текущему контексту и только потом принять решение.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2400" b="1"/>
              <a:t>Что делает и что не делает </a:t>
            </a:r>
            <a:r>
              <a:rPr sz="2400" b="1">
                <a:latin typeface="Courier"/>
              </a:rPr>
              <a:t>inspect_step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 sz="1400"/>
              <a:t>Делает</a:t>
            </a:r>
          </a:p>
          <a:p>
            <a:pPr lvl="0"/>
            <a:r>
              <a:rPr sz="1400"/>
              <a:t>Показывает source, hosts и runtime variables до выполнения task.</a:t>
            </a:r>
          </a:p>
          <a:p>
            <a:pPr lvl="0"/>
            <a:r>
              <a:rPr sz="1400"/>
              <a:t>Вычисляет expressions, </a:t>
            </a:r>
            <a:r>
              <a:rPr sz="1400">
                <a:latin typeface="Courier"/>
              </a:rPr>
              <a:t>when</a:t>
            </a:r>
            <a:r>
              <a:rPr sz="1400"/>
              <a:t>, args и template для выбранного loop item.</a:t>
            </a:r>
          </a:p>
          <a:p>
            <a:pPr lvl="0"/>
            <a:r>
              <a:rPr sz="1400"/>
              <a:t>Управляет run/run!/skip/go/continue, watches, breakpoints и result.</a:t>
            </a:r>
          </a:p>
          <a:p>
            <a:pPr lvl="0"/>
            <a:r>
              <a:rPr sz="1400"/>
              <a:t>Использует штатные </a:t>
            </a:r>
            <a:r>
              <a:rPr sz="1400">
                <a:latin typeface="Courier"/>
              </a:rPr>
              <a:t>VariableManager</a:t>
            </a:r>
            <a:r>
              <a:rPr sz="1400"/>
              <a:t>, </a:t>
            </a:r>
            <a:r>
              <a:rPr sz="1400">
                <a:latin typeface="Courier"/>
              </a:rPr>
              <a:t>Templar</a:t>
            </a:r>
            <a:r>
              <a:rPr sz="1400"/>
              <a:t> и executor Ansible.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 sz="1400"/>
              <a:t>Не делает</a:t>
            </a:r>
          </a:p>
          <a:p>
            <a:pPr lvl="0"/>
            <a:r>
              <a:rPr sz="1400"/>
              <a:t>Не заменяет tests, </a:t>
            </a:r>
            <a:r>
              <a:rPr sz="1400">
                <a:latin typeface="Courier"/>
              </a:rPr>
              <a:t>--check</a:t>
            </a:r>
            <a:r>
              <a:rPr sz="1400"/>
              <a:t> и code review.</a:t>
            </a:r>
          </a:p>
          <a:p>
            <a:pPr lvl="0"/>
            <a:r>
              <a:rPr sz="1400"/>
              <a:t>Не является remote debugger и не обеспечивает rollback.</a:t>
            </a:r>
          </a:p>
          <a:p>
            <a:pPr lvl="0"/>
            <a:r>
              <a:rPr sz="1400"/>
              <a:t>Не выполняет loop пошагово по items.</a:t>
            </a:r>
          </a:p>
          <a:p>
            <a:pPr lvl="0"/>
            <a:r>
              <a:rPr sz="1400"/>
              <a:t>Не гарантирует безопасность lookup/plugins и не поддерживает ansible-core 2.14+.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2400" b="1"/>
              <a:t>Архитектура</a:t>
            </a:r>
          </a:p>
        </p:txBody>
      </p:sp>
      <p:pic>
        <p:nvPicPr>
          <p:cNvPr descr="architecture-ru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43100"/>
            <a:ext cx="4038600" cy="137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sz="1400"/>
              <a:t>Архитектура inspect_step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sz="1400"/>
              <a:t>Plugin работает на controller; на managed hosts ничего не устанавливается.</a:t>
            </a:r>
          </a:p>
          <a:p>
            <a:pPr lvl="0"/>
            <a:r>
              <a:rPr sz="1400"/>
              <a:t>Наследование от </a:t>
            </a:r>
            <a:r>
              <a:rPr sz="1400">
                <a:latin typeface="Courier"/>
              </a:rPr>
              <a:t>linear.StrategyModule</a:t>
            </a:r>
            <a:r>
              <a:rPr sz="1400"/>
              <a:t> сохраняет lockstep-модель.</a:t>
            </a:r>
          </a:p>
          <a:p>
            <a:pPr lvl="0"/>
            <a:r>
              <a:rPr sz="1400"/>
              <a:t>Lookup/template остаются controller-side операциями.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2400" b="1"/>
              <a:t>Жизненный цикл одной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sz="1400">
                <a:latin typeface="Courier"/>
              </a:rPr>
              <a:t>PlayIterator</a:t>
            </a:r>
            <a:r>
              <a:rPr sz="1400"/>
              <a:t> и </a:t>
            </a:r>
            <a:r>
              <a:rPr sz="1400">
                <a:latin typeface="Courier"/>
              </a:rPr>
              <a:t>linear</a:t>
            </a:r>
            <a:r>
              <a:rPr sz="1400"/>
              <a:t> выбирают очередную lockstep-task и активные hosts.</a:t>
            </a:r>
          </a:p>
          <a:p>
            <a:pPr lvl="0" indent="-342900" marL="342900">
              <a:buAutoNum type="arabicPeriod"/>
            </a:pPr>
            <a:r>
              <a:rPr sz="1400">
                <a:latin typeface="Courier"/>
              </a:rPr>
              <a:t>_take_step()</a:t>
            </a:r>
            <a:r>
              <a:rPr sz="1400"/>
              <a:t> передаёт task в интерактивный inspector.</a:t>
            </a:r>
          </a:p>
          <a:p>
            <a:pPr lvl="0" indent="-342900" marL="342900">
              <a:buAutoNum type="arabicPeriod"/>
            </a:pPr>
            <a:r>
              <a:rPr sz="1400"/>
              <a:t>Inspector получает variables выбранного host и показывает masked source.</a:t>
            </a:r>
          </a:p>
          <a:p>
            <a:pPr lvl="0" indent="-342900" marL="342900">
              <a:buAutoNum type="arabicPeriod"/>
            </a:pPr>
            <a:r>
              <a:rPr sz="1400"/>
              <a:t>Оператор выполняет диагностические команды; task ещё не запущена.</a:t>
            </a:r>
          </a:p>
          <a:p>
            <a:pPr lvl="0" indent="-342900" marL="342900">
              <a:buAutoNum type="arabicPeriod"/>
            </a:pPr>
            <a:r>
              <a:rPr sz="1400">
                <a:latin typeface="Courier"/>
              </a:rPr>
              <a:t>r</a:t>
            </a:r>
            <a:r>
              <a:rPr sz="1400"/>
              <a:t>, </a:t>
            </a:r>
            <a:r>
              <a:rPr sz="1400">
                <a:latin typeface="Courier"/>
              </a:rPr>
              <a:t>r!</a:t>
            </a:r>
            <a:r>
              <a:rPr sz="1400"/>
              <a:t>, </a:t>
            </a:r>
            <a:r>
              <a:rPr sz="1400">
                <a:latin typeface="Courier"/>
              </a:rPr>
              <a:t>s</a:t>
            </a:r>
            <a:r>
              <a:rPr sz="1400"/>
              <a:t>, </a:t>
            </a:r>
            <a:r>
              <a:rPr sz="1400">
                <a:latin typeface="Courier"/>
              </a:rPr>
              <a:t>g</a:t>
            </a:r>
            <a:r>
              <a:rPr sz="1400"/>
              <a:t> или </a:t>
            </a:r>
            <a:r>
              <a:rPr sz="1400">
                <a:latin typeface="Courier"/>
              </a:rPr>
              <a:t>c</a:t>
            </a:r>
            <a:r>
              <a:rPr sz="1400"/>
              <a:t> определяют дальнейшее выполнение.</a:t>
            </a:r>
          </a:p>
          <a:p>
            <a:pPr lvl="0" indent="-342900" marL="342900">
              <a:buAutoNum type="arabicPeriod"/>
            </a:pPr>
            <a:r>
              <a:rPr sz="1400"/>
              <a:t>Разрешённая task идёт в штатный executor; результаты обрабатываются Ansible.</a:t>
            </a:r>
          </a:p>
          <a:p>
            <a:pPr lvl="0" indent="-342900" marL="342900">
              <a:buAutoNum type="arabicPeriod"/>
            </a:pPr>
            <a:r>
              <a:rPr sz="1400"/>
              <a:t>Inspector сохраняет per-host result и при необработанной ошибке открывает </a:t>
            </a:r>
            <a:r>
              <a:rPr sz="1400">
                <a:latin typeface="Courier"/>
              </a:rPr>
              <a:t>inspect-failure&gt;</a:t>
            </a:r>
            <a:r>
              <a:rPr sz="1400"/>
              <a:t>.</a:t>
            </a:r>
          </a:p>
          <a:p>
            <a:pPr lvl="0" indent="0" marL="0">
              <a:buNone/>
            </a:pPr>
            <a:r>
              <a:rPr b="1" sz="1400"/>
              <a:t>Архитектурный принцип:</a:t>
            </a:r>
            <a:r>
              <a:rPr sz="1400"/>
              <a:t> отладчик наблюдает и управляет точкой допуска task, но не заменяет module executor.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2400" b="1"/>
              <a:t>Карта команд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sz="1400"/>
              <a:t>Выполнение:</a:t>
            </a:r>
            <a:r>
              <a:rPr sz="1400"/>
              <a:t> </a:t>
            </a:r>
            <a:r>
              <a:rPr sz="1400">
                <a:latin typeface="Courier"/>
              </a:rPr>
              <a:t>r/run</a:t>
            </a:r>
            <a:r>
              <a:rPr sz="1400"/>
              <a:t>, </a:t>
            </a:r>
            <a:r>
              <a:rPr sz="1400">
                <a:latin typeface="Courier"/>
              </a:rPr>
              <a:t>r!/run!</a:t>
            </a:r>
            <a:r>
              <a:rPr sz="1400"/>
              <a:t>, </a:t>
            </a:r>
            <a:r>
              <a:rPr sz="1400">
                <a:latin typeface="Courier"/>
              </a:rPr>
              <a:t>s/skip</a:t>
            </a:r>
            <a:r>
              <a:rPr sz="1400"/>
              <a:t>, </a:t>
            </a:r>
            <a:r>
              <a:rPr sz="1400">
                <a:latin typeface="Courier"/>
              </a:rPr>
              <a:t>c/continue</a:t>
            </a:r>
            <a:r>
              <a:rPr sz="1400"/>
              <a:t>, </a:t>
            </a:r>
            <a:r>
              <a:rPr sz="1400">
                <a:latin typeface="Courier"/>
              </a:rPr>
              <a:t>g/go</a:t>
            </a:r>
            <a:r>
              <a:rPr sz="1400"/>
              <a:t>.</a:t>
            </a:r>
          </a:p>
          <a:p>
            <a:pPr lvl="0"/>
            <a:r>
              <a:rPr b="1" sz="1400"/>
              <a:t>Контекст:</a:t>
            </a:r>
            <a:r>
              <a:rPr sz="1400"/>
              <a:t> </a:t>
            </a:r>
            <a:r>
              <a:rPr sz="1400">
                <a:latin typeface="Courier"/>
              </a:rPr>
              <a:t>w</a:t>
            </a:r>
            <a:r>
              <a:rPr sz="1400"/>
              <a:t>, </a:t>
            </a:r>
            <a:r>
              <a:rPr sz="1400">
                <a:latin typeface="Courier"/>
              </a:rPr>
              <a:t>hosts</a:t>
            </a:r>
            <a:r>
              <a:rPr sz="1400"/>
              <a:t>, </a:t>
            </a:r>
            <a:r>
              <a:rPr sz="1400">
                <a:latin typeface="Courier"/>
              </a:rPr>
              <a:t>h/help/?</a:t>
            </a:r>
            <a:r>
              <a:rPr sz="1400"/>
              <a:t>.</a:t>
            </a:r>
          </a:p>
          <a:p>
            <a:pPr lvl="0"/>
            <a:r>
              <a:rPr b="1" sz="1400"/>
              <a:t>Variables:</a:t>
            </a:r>
            <a:r>
              <a:rPr sz="1400"/>
              <a:t> единая </a:t>
            </a:r>
            <a:r>
              <a:rPr sz="1400">
                <a:latin typeface="Courier"/>
              </a:rPr>
              <a:t>vars/v/var</a:t>
            </a:r>
            <a:r>
              <a:rPr sz="1400"/>
              <a:t>, выражения Jinja, явно немаскированные </a:t>
            </a:r>
            <a:r>
              <a:rPr sz="1400">
                <a:latin typeface="Courier"/>
              </a:rPr>
              <a:t>vars!/v!/var!</a:t>
            </a:r>
            <a:r>
              <a:rPr sz="1400"/>
              <a:t>, </a:t>
            </a:r>
            <a:r>
              <a:rPr sz="1400">
                <a:latin typeface="Courier"/>
              </a:rPr>
              <a:t>set</a:t>
            </a:r>
            <a:r>
              <a:rPr sz="1400"/>
              <a:t>.</a:t>
            </a:r>
          </a:p>
          <a:p>
            <a:pPr lvl="0"/>
            <a:r>
              <a:rPr b="1" sz="1400"/>
              <a:t>Вычисления:</a:t>
            </a:r>
            <a:r>
              <a:rPr sz="1400"/>
              <a:t> </a:t>
            </a:r>
            <a:r>
              <a:rPr sz="1400">
                <a:latin typeface="Courier"/>
              </a:rPr>
              <a:t>e/eval</a:t>
            </a:r>
            <a:r>
              <a:rPr sz="1400"/>
              <a:t>, </a:t>
            </a:r>
            <a:r>
              <a:rPr sz="1400">
                <a:latin typeface="Courier"/>
              </a:rPr>
              <a:t>eval-all</a:t>
            </a:r>
            <a:r>
              <a:rPr sz="1400"/>
              <a:t>, </a:t>
            </a:r>
            <a:r>
              <a:rPr sz="1400">
                <a:latin typeface="Courier"/>
              </a:rPr>
              <a:t>eval-lookup</a:t>
            </a:r>
            <a:r>
              <a:rPr sz="1400"/>
              <a:t>, </a:t>
            </a:r>
            <a:r>
              <a:rPr sz="1400">
                <a:latin typeface="Courier"/>
              </a:rPr>
              <a:t>when</a:t>
            </a:r>
            <a:r>
              <a:rPr sz="1400"/>
              <a:t>.</a:t>
            </a:r>
          </a:p>
          <a:p>
            <a:pPr lvl="0"/>
            <a:r>
              <a:rPr b="1" sz="1400"/>
              <a:t>Preview:</a:t>
            </a:r>
            <a:r>
              <a:rPr sz="1400"/>
              <a:t> </a:t>
            </a:r>
            <a:r>
              <a:rPr sz="1400">
                <a:latin typeface="Courier"/>
              </a:rPr>
              <a:t>raw</a:t>
            </a:r>
            <a:r>
              <a:rPr sz="1400"/>
              <a:t>, </a:t>
            </a:r>
            <a:r>
              <a:rPr sz="1400">
                <a:latin typeface="Courier"/>
              </a:rPr>
              <a:t>args/args!</a:t>
            </a:r>
            <a:r>
              <a:rPr sz="1400"/>
              <a:t>, </a:t>
            </a:r>
            <a:r>
              <a:rPr sz="1400">
                <a:latin typeface="Courier"/>
              </a:rPr>
              <a:t>loop/loop!</a:t>
            </a:r>
            <a:r>
              <a:rPr sz="1400"/>
              <a:t>, </a:t>
            </a:r>
            <a:r>
              <a:rPr sz="1400">
                <a:latin typeface="Courier"/>
              </a:rPr>
              <a:t>loop eval/when/args/template</a:t>
            </a:r>
            <a:r>
              <a:rPr sz="1400"/>
              <a:t>, </a:t>
            </a:r>
            <a:r>
              <a:rPr sz="1400">
                <a:latin typeface="Courier"/>
              </a:rPr>
              <a:t>template</a:t>
            </a:r>
            <a:r>
              <a:rPr sz="1400"/>
              <a:t>, </a:t>
            </a:r>
            <a:r>
              <a:rPr sz="1400">
                <a:latin typeface="Courier"/>
              </a:rPr>
              <a:t>template-save</a:t>
            </a:r>
            <a:r>
              <a:rPr sz="1400"/>
              <a:t>.</a:t>
            </a:r>
          </a:p>
          <a:p>
            <a:pPr lvl="0"/>
            <a:r>
              <a:rPr b="1" sz="1400"/>
              <a:t>Состояние:</a:t>
            </a:r>
            <a:r>
              <a:rPr sz="1400"/>
              <a:t> </a:t>
            </a:r>
            <a:r>
              <a:rPr sz="1400">
                <a:latin typeface="Courier"/>
              </a:rPr>
              <a:t>result/result!</a:t>
            </a:r>
            <a:r>
              <a:rPr sz="1400"/>
              <a:t>, </a:t>
            </a:r>
            <a:r>
              <a:rPr sz="1400">
                <a:latin typeface="Courier"/>
              </a:rPr>
              <a:t>watch add/list/delete</a:t>
            </a:r>
            <a:r>
              <a:rPr sz="1400"/>
              <a:t>.</a:t>
            </a:r>
          </a:p>
          <a:p>
            <a:pPr lvl="0"/>
            <a:r>
              <a:rPr b="1" sz="1400"/>
              <a:t>Навигация:</a:t>
            </a:r>
            <a:r>
              <a:rPr sz="1400"/>
              <a:t> </a:t>
            </a:r>
            <a:r>
              <a:rPr sz="1400">
                <a:latin typeface="Courier"/>
              </a:rPr>
              <a:t>break task/role/tag</a:t>
            </a:r>
            <a:r>
              <a:rPr sz="1400"/>
              <a:t>, </a:t>
            </a:r>
            <a:r>
              <a:rPr sz="1400">
                <a:latin typeface="Courier"/>
              </a:rPr>
              <a:t>break list/delete</a:t>
            </a:r>
            <a:r>
              <a:rPr sz="1400"/>
              <a:t>.</a:t>
            </a:r>
          </a:p>
          <a:p>
            <a:pPr lvl="0"/>
            <a:r>
              <a:rPr b="1" sz="1400"/>
              <a:t>После failure:</a:t>
            </a:r>
            <a:r>
              <a:rPr sz="1400"/>
              <a:t> </a:t>
            </a:r>
            <a:r>
              <a:rPr sz="1400">
                <a:latin typeface="Courier"/>
              </a:rPr>
              <a:t>i/ignore</a:t>
            </a:r>
            <a:r>
              <a:rPr sz="1400"/>
              <a:t>, </a:t>
            </a:r>
            <a:r>
              <a:rPr sz="1400">
                <a:latin typeface="Courier"/>
              </a:rPr>
              <a:t>c/continue</a:t>
            </a:r>
            <a:r>
              <a:rPr sz="1400"/>
              <a:t>, </a:t>
            </a:r>
            <a:r>
              <a:rPr sz="1400">
                <a:latin typeface="Courier"/>
              </a:rPr>
              <a:t>a/abort</a:t>
            </a:r>
            <a:r>
              <a:rPr sz="1400"/>
              <a:t>.</a:t>
            </a:r>
          </a:p>
          <a:p>
            <a:pPr lvl="0" indent="0" marL="0">
              <a:buNone/>
            </a:pPr>
            <a:r>
              <a:rPr sz="1400"/>
              <a:t>Суффикс </a:t>
            </a:r>
            <a:r>
              <a:rPr sz="1400">
                <a:latin typeface="Courier"/>
              </a:rPr>
              <a:t>!</a:t>
            </a:r>
            <a:r>
              <a:rPr sz="1400"/>
              <a:t> означает намеренно немаскированный вывод и требует осторожности; </a:t>
            </a:r>
            <a:r>
              <a:rPr sz="1400">
                <a:latin typeface="Courier"/>
              </a:rPr>
              <a:t>r!</a:t>
            </a:r>
            <a:r>
              <a:rPr sz="1400"/>
              <a:t> временно отключает task-level </a:t>
            </a:r>
            <a:r>
              <a:rPr sz="1400">
                <a:latin typeface="Courier"/>
              </a:rPr>
              <a:t>no_log</a:t>
            </a:r>
            <a:r>
              <a:rPr sz="1400"/>
              <a:t>.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2400" b="1"/>
              <a:t>Интерактивная пауза перед выполнением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1400"/>
              <a:t>Inspector приостанавливает controller до постановки текущей task в очередь и показывает её host-контекст:</a:t>
            </a:r>
          </a:p>
          <a:p>
            <a:pPr lvl="0" indent="0">
              <a:buNone/>
            </a:pPr>
            <a:r>
              <a:rPr sz="1400">
                <a:latin typeface="Courier"/>
              </a:rPr>
              <a:t>INSPECT TASK: application : Render configuration
Host: web01 (inspection host; task has 2 active hosts)
TASK SOURCE [.../roles/application/tasks/main.yml:24]
- name: Render configuration
  ansible.builtin.template:
    src: application.conf.j2
    dest: '{{ app_root }}/{{ app_name }}.conf'
inspect-step&gt; vars app_config depth=2 host=web01
inspect-step&gt; template web01
inspect-step&gt; r</a:t>
            </a:r>
          </a:p>
          <a:p>
            <a:pPr lvl="0" indent="0" marL="0">
              <a:buNone/>
            </a:pPr>
            <a:r>
              <a:rPr sz="1400"/>
              <a:t>Команда </a:t>
            </a:r>
            <a:r>
              <a:rPr sz="1400">
                <a:latin typeface="Courier"/>
              </a:rPr>
              <a:t>r</a:t>
            </a:r>
            <a:r>
              <a:rPr sz="1400"/>
              <a:t> завершает интерактивную паузу и разрешает выполнение текущей task.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2400" b="1"/>
              <a:t>Управление выполнением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sz="1400">
                <a:latin typeface="Courier"/>
              </a:rPr>
              <a:t>inspect-step&gt; w
# повторно показать task после большого вывода variables
inspect-step&gt; s
SKIP: application : Restart service
inspect-step&gt; r
RUN: application : Configure service
inspect-step&gt; r!
# выполнить выбранную task с task-level no_log: false
inspect-step&gt; c
# выполнить текущую task и убрать обычные последующие остановки</a:t>
            </a:r>
          </a:p>
          <a:p>
            <a:pPr lvl="0" indent="0">
              <a:buNone/>
            </a:pPr>
            <a:r>
              <a:rPr sz="1400">
                <a:latin typeface="Courier"/>
              </a:rPr>
              <a:t>inspect-step&gt; hosts
web01 (default inspection host, active for current task)
web02 (active for current task)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2400" b="1"/>
              <a:t>Variables: точка, структура, host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sz="1400">
                <a:latin typeface="Courier"/>
              </a:rPr>
              <a:t>vars app_port                    # v и var — короткие alias
v app_config.workers depth=1
vars hostvars.ansible_facts host=web02
v glob=role_*                    # glob: * — любое количество символов
v glob=role_[ab]                 # [ab] — один из двух символов
vars regex=^(role|app)_[a-z0-9_]+$
var app_password | length       # фильтр Ansible
var app_config.workers + 2      # несколько значений
vars depth=1                     # первый уровень всего контекста
v ansible_facts host=web02 depth=2
vars! app_config host=web02 depth=3
v! app_config host=web02 depth=3 # без маскирования</a:t>
            </a:r>
          </a:p>
          <a:p>
            <a:pPr lvl="0"/>
            <a:r>
              <a:rPr sz="1400"/>
              <a:t>У неявно выбранного host имя всё равно отображается.</a:t>
            </a:r>
          </a:p>
          <a:p>
            <a:pPr lvl="0"/>
            <a:r>
              <a:rPr sz="1400"/>
              <a:t>JSON-строки со структурой форматируются как mappings/sequences.</a:t>
            </a:r>
          </a:p>
          <a:p>
            <a:pPr lvl="0"/>
            <a:r>
              <a:rPr sz="1400">
                <a:latin typeface="Courier"/>
              </a:rPr>
              <a:t>vars</a:t>
            </a:r>
            <a:r>
              <a:rPr sz="1400"/>
              <a:t>, </a:t>
            </a:r>
            <a:r>
              <a:rPr sz="1400">
                <a:latin typeface="Courier"/>
              </a:rPr>
              <a:t>v</a:t>
            </a:r>
            <a:r>
              <a:rPr sz="1400"/>
              <a:t> и </a:t>
            </a:r>
            <a:r>
              <a:rPr sz="1400">
                <a:latin typeface="Courier"/>
              </a:rPr>
              <a:t>var</a:t>
            </a:r>
            <a:r>
              <a:rPr sz="1400"/>
              <a:t> используют один parser; выражения вычисляются через Templar без lookups. Вычисленный скаляр может раскрыть секрет.</a:t>
            </a:r>
          </a:p>
          <a:p>
            <a:pPr lvl="0"/>
            <a:r>
              <a:rPr sz="1400">
                <a:latin typeface="Courier"/>
              </a:rPr>
              <a:t>depth=N</a:t>
            </a:r>
            <a:r>
              <a:rPr sz="1400"/>
              <a:t> ограничивает объём вывода относительно выбранного path.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2400" b="1"/>
              <a:t>Временное изменение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sz="1400">
                <a:latin typeface="Courier"/>
              </a:rPr>
              <a:t>set app_port 9000
set feature_enabled true
set settings '{"workers": 4, "enabled": true}'
set app_port 9002 host=web02</a:t>
            </a:r>
          </a:p>
          <a:p>
            <a:pPr lvl="0"/>
            <a:r>
              <a:rPr sz="1400"/>
              <a:t>Без </a:t>
            </a:r>
            <a:r>
              <a:rPr sz="1400">
                <a:latin typeface="Courier"/>
              </a:rPr>
              <a:t>host=</a:t>
            </a:r>
            <a:r>
              <a:rPr sz="1400"/>
              <a:t> значение меняется для всех hosts play; с </a:t>
            </a:r>
            <a:r>
              <a:rPr sz="1400">
                <a:latin typeface="Courier"/>
              </a:rPr>
              <a:t>host=</a:t>
            </a:r>
            <a:r>
              <a:rPr sz="1400"/>
              <a:t> — для одного.</a:t>
            </a:r>
          </a:p>
          <a:p>
            <a:pPr lvl="0"/>
            <a:r>
              <a:rPr sz="1400"/>
              <a:t>Значение разбирается как YAML/JSON и существует только в текущем процессе.</a:t>
            </a:r>
          </a:p>
          <a:p>
            <a:pPr lvl="0"/>
            <a:r>
              <a:rPr sz="1400"/>
              <a:t>Это top-level override, а не постоянное изменение inventory или role.</a:t>
            </a:r>
          </a:p>
          <a:p>
            <a:pPr lvl="0"/>
            <a:r>
              <a:rPr sz="1400"/>
              <a:t>Extra vars (</a:t>
            </a:r>
            <a:r>
              <a:rPr sz="1400">
                <a:latin typeface="Courier"/>
              </a:rPr>
              <a:t>-e</a:t>
            </a:r>
            <a:r>
              <a:rPr sz="1400"/>
              <a:t>) и magic variables могут иметь более высокий precedence.</a:t>
            </a:r>
          </a:p>
          <a:p>
            <a:pPr lvl="0"/>
            <a:r>
              <a:rPr sz="1400"/>
              <a:t>Секрет, введённый через </a:t>
            </a:r>
            <a:r>
              <a:rPr sz="1400">
                <a:latin typeface="Courier"/>
              </a:rPr>
              <a:t>set</a:t>
            </a:r>
            <a:r>
              <a:rPr sz="1400"/>
              <a:t>, может остаться в readline history.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2400" b="1"/>
              <a:t>Jinja, conditions и сравнение hosts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sz="1400">
                <a:latin typeface="Courier"/>
              </a:rPr>
              <a:t>eval {{ app_root }}/{{ app_name }}-{{ inventory_hostname }}.conf
eval {{ app_config.workers }} host=web02
eval-all {{ host_app_port }} diff=true
when all
watch add {{ app_port }}
watch add {{ app_root }}/{{ app_name }}.conf host=web02</a:t>
            </a:r>
          </a:p>
          <a:p>
            <a:pPr lvl="0"/>
            <a:r>
              <a:rPr sz="1400">
                <a:latin typeface="Courier"/>
              </a:rPr>
              <a:t>eval</a:t>
            </a:r>
            <a:r>
              <a:rPr sz="1400"/>
              <a:t>, </a:t>
            </a:r>
            <a:r>
              <a:rPr sz="1400">
                <a:latin typeface="Courier"/>
              </a:rPr>
              <a:t>eval-all</a:t>
            </a:r>
            <a:r>
              <a:rPr sz="1400"/>
              <a:t> и watches выполняют Jinja с отключёнными Ansible lookups.</a:t>
            </a:r>
          </a:p>
          <a:p>
            <a:pPr lvl="0"/>
            <a:r>
              <a:rPr sz="1400">
                <a:latin typeface="Courier"/>
              </a:rPr>
              <a:t>eval-all</a:t>
            </a:r>
            <a:r>
              <a:rPr sz="1400"/>
              <a:t> вычисляет выражение для hosts, активных у текущей task.</a:t>
            </a:r>
          </a:p>
          <a:p>
            <a:pPr lvl="0"/>
            <a:r>
              <a:rPr sz="1400">
                <a:latin typeface="Courier"/>
              </a:rPr>
              <a:t>when</a:t>
            </a:r>
            <a:r>
              <a:rPr sz="1400"/>
              <a:t> — preview; executor повторно вычислит condition при реальном запуске.</a:t>
            </a:r>
          </a:p>
          <a:p>
            <a:pPr lvl="0"/>
            <a:r>
              <a:rPr sz="1400"/>
              <a:t>Watch автоматически выводится на каждой следующей интерактивной остановке.</a:t>
            </a: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2400" b="1"/>
              <a:t>Lookup: отдельная опасная операция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sz="1400">
                <a:latin typeface="Courier"/>
              </a:rPr>
              <a:t>eval-lookup {{ lookup('env', 'HOME') }} host=web01
eval-lookup {{ lookup('hashi_vault',
  hashicorp_vault_hashi_vault_path_root +
  (hashicorp_vault_cacertfile | basename)) }} host=web01</a:t>
            </a:r>
          </a:p>
          <a:p>
            <a:pPr lvl="0"/>
            <a:r>
              <a:rPr sz="1400"/>
              <a:t>Только один явно выбранный или default host; нет режима </a:t>
            </a:r>
            <a:r>
              <a:rPr sz="1400">
                <a:latin typeface="Courier"/>
              </a:rPr>
              <a:t>all</a:t>
            </a:r>
            <a:r>
              <a:rPr sz="1400"/>
              <a:t> и автоматических watches.</a:t>
            </a:r>
          </a:p>
          <a:p>
            <a:pPr lvl="0"/>
            <a:r>
              <a:rPr sz="1400"/>
              <a:t>Перед каждым вызовом выводится warning.</a:t>
            </a:r>
          </a:p>
          <a:p>
            <a:pPr lvl="0"/>
            <a:r>
              <a:rPr sz="1400"/>
              <a:t>Результат не маскируется.</a:t>
            </a:r>
          </a:p>
          <a:p>
            <a:pPr lvl="0"/>
            <a:r>
              <a:rPr sz="1400"/>
              <a:t>Lookup работает на controller и может читать файлы, запускать команды, обращаться к Vault/сети и иметь side effects.</a:t>
            </a:r>
          </a:p>
          <a:p>
            <a:pPr lvl="0"/>
            <a:r>
              <a:rPr sz="1400"/>
              <a:t>Preview и реальное выполнение могут вернуть разные значения и вызвать lookup дважды.</a:t>
            </a: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2400" b="1"/>
              <a:t>Preview без выполнения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sz="1400">
                <a:latin typeface="Courier"/>
              </a:rPr>
              <a:t>raw                              # исходные task.args
args                             # templated args, secrets masked
args!                            # templated args без masking
loop all depth=1                 # items и loop_control по hosts
loop eval 2 {{ item }} host=web01
loop when 2 host=web01
loop args 2 host=web01
loop template 2 host=web01
result all depth=2               # предыдущий result по hosts
template web01                   # результат template на экране
template-save /tmp/app.conf web01</a:t>
            </a:r>
          </a:p>
          <a:p>
            <a:pPr lvl="0"/>
            <a:r>
              <a:rPr sz="1400">
                <a:latin typeface="Courier"/>
              </a:rPr>
              <a:t>template-save</a:t>
            </a:r>
            <a:r>
              <a:rPr sz="1400"/>
              <a:t> пишет локальный файл на controller с mode </a:t>
            </a:r>
            <a:r>
              <a:rPr sz="1400">
                <a:latin typeface="Courier"/>
              </a:rPr>
              <a:t>0600</a:t>
            </a:r>
            <a:r>
              <a:rPr sz="1400"/>
              <a:t> и не перезаписывает существующий.</a:t>
            </a:r>
          </a:p>
          <a:p>
            <a:pPr lvl="0"/>
            <a:r>
              <a:rPr sz="1400"/>
              <a:t>Item-aware команды используют 1-based номер из loop preview, но не выполняют item.</a:t>
            </a:r>
          </a:p>
          <a:p>
            <a:pPr lvl="0"/>
            <a:r>
              <a:rPr sz="1400">
                <a:latin typeface="Courier"/>
              </a:rPr>
              <a:t>loop</a:t>
            </a:r>
            <a:r>
              <a:rPr sz="1400"/>
              <a:t> не даёт per-item step execution.</a:t>
            </a:r>
          </a:p>
          <a:p>
            <a:pPr lvl="0"/>
            <a:r>
              <a:rPr sz="1400"/>
              <a:t>Template, args и loop preview могут выполнить lookup, уже присутствующий в task/template.</a:t>
            </a: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2400" b="1"/>
              <a:t>Breakpoints и переход </a:t>
            </a:r>
            <a:r>
              <a:rPr sz="2400" b="1">
                <a:latin typeface="Courier"/>
              </a:rPr>
              <a:t>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sz="1400">
                <a:latin typeface="Courier"/>
              </a:rPr>
              <a:t>break task application
break task '^test_role : Render'
break role test_role
break tag inspect_demo
break list
g</a:t>
            </a:r>
          </a:p>
          <a:p>
            <a:pPr lvl="0"/>
            <a:r>
              <a:rPr sz="1400">
                <a:latin typeface="Courier"/>
              </a:rPr>
              <a:t>break task</a:t>
            </a:r>
            <a:r>
              <a:rPr sz="1400"/>
              <a:t> использует Python regexp и поиск </a:t>
            </a:r>
            <a:r>
              <a:rPr sz="1400">
                <a:latin typeface="Courier"/>
              </a:rPr>
              <a:t>search</a:t>
            </a:r>
            <a:r>
              <a:rPr sz="1400"/>
              <a:t>.</a:t>
            </a:r>
          </a:p>
          <a:p>
            <a:pPr lvl="0"/>
            <a:r>
              <a:rPr sz="1400"/>
              <a:t>Рекомендуется </a:t>
            </a:r>
            <a:r>
              <a:rPr sz="1400">
                <a:latin typeface="Courier"/>
              </a:rPr>
              <a:t>break task application</a:t>
            </a:r>
            <a:r>
              <a:rPr sz="1400"/>
              <a:t>.</a:t>
            </a:r>
          </a:p>
          <a:p>
            <a:pPr lvl="0"/>
            <a:r>
              <a:rPr sz="1400">
                <a:latin typeface="Courier"/>
              </a:rPr>
              <a:t>break task *application*</a:t>
            </a:r>
            <a:r>
              <a:rPr sz="1400"/>
              <a:t> — неверный regexp: </a:t>
            </a:r>
            <a:r>
              <a:rPr sz="1400">
                <a:latin typeface="Courier"/>
              </a:rPr>
              <a:t>*</a:t>
            </a:r>
            <a:r>
              <a:rPr sz="1400"/>
              <a:t> не может стоять первым.</a:t>
            </a:r>
          </a:p>
          <a:p>
            <a:pPr lvl="0"/>
            <a:r>
              <a:rPr sz="1400">
                <a:latin typeface="Courier"/>
              </a:rPr>
              <a:t>break role</a:t>
            </a:r>
            <a:r>
              <a:rPr sz="1400"/>
              <a:t> и </a:t>
            </a:r>
            <a:r>
              <a:rPr sz="1400">
                <a:latin typeface="Courier"/>
              </a:rPr>
              <a:t>break tag</a:t>
            </a:r>
            <a:r>
              <a:rPr sz="1400"/>
              <a:t> используют точное регистрозависимое совпадение.</a:t>
            </a:r>
          </a:p>
          <a:p>
            <a:pPr lvl="0"/>
            <a:r>
              <a:rPr sz="1400"/>
              <a:t>Совпавшая task останавливается </a:t>
            </a:r>
            <a:r>
              <a:rPr b="1" sz="1400"/>
              <a:t>до</a:t>
            </a:r>
            <a:r>
              <a:rPr sz="1400"/>
              <a:t> выполнения.</a:t>
            </a: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2400" b="1"/>
              <a:t>Продолжение после failed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sz="1400">
                <a:latin typeface="Courier"/>
              </a:rPr>
              <a:t>fatal: [web01]: FAILED! =&gt; {"msg": "missing required arguments: path"}
INSPECT FAILURE: application : Create directory
Failed host: web01
inspect-failure&gt; i</a:t>
            </a:r>
          </a:p>
          <a:p>
            <a:pPr lvl="0"/>
            <a:r>
              <a:rPr sz="1400">
                <a:latin typeface="Courier"/>
              </a:rPr>
              <a:t>i/ignore</a:t>
            </a:r>
            <a:r>
              <a:rPr sz="1400"/>
              <a:t> — считать failure проигнорированным и сохранить step mode.</a:t>
            </a:r>
          </a:p>
          <a:p>
            <a:pPr lvl="0"/>
            <a:r>
              <a:rPr sz="1400">
                <a:latin typeface="Courier"/>
              </a:rPr>
              <a:t>c/continue</a:t>
            </a:r>
            <a:r>
              <a:rPr sz="1400"/>
              <a:t> — проигнорировать failure и убрать последующие обычные остановки.</a:t>
            </a:r>
          </a:p>
          <a:p>
            <a:pPr lvl="0"/>
            <a:r>
              <a:rPr sz="1400">
                <a:latin typeface="Courier"/>
              </a:rPr>
              <a:t>a/abort</a:t>
            </a:r>
            <a:r>
              <a:rPr sz="1400"/>
              <a:t> — сохранить стандартное failed-состояние Ansible.</a:t>
            </a:r>
          </a:p>
          <a:p>
            <a:pPr lvl="0"/>
            <a:r>
              <a:rPr sz="1400"/>
              <a:t>Решение относится к failures одной lockstep-task.</a:t>
            </a:r>
          </a:p>
          <a:p>
            <a:pPr lvl="0"/>
            <a:r>
              <a:rPr sz="1400"/>
              <a:t>Recovery не откатывает уже сделанные remote changes и не восстанавливает unreachable hosts.</a:t>
            </a: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2400" b="1"/>
              <a:t>Безопасность и </a:t>
            </a:r>
            <a:r>
              <a:rPr sz="2400" b="1">
                <a:latin typeface="Courier"/>
              </a:rPr>
              <a:t>--check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400"/>
              <a:t>Masking эвристический: он не гарантирует обнаружение всех секретов.</a:t>
            </a:r>
          </a:p>
          <a:p>
            <a:pPr lvl="0"/>
            <a:r>
              <a:rPr sz="1400">
                <a:latin typeface="Courier"/>
              </a:rPr>
              <a:t>v</a:t>
            </a:r>
            <a:r>
              <a:rPr sz="1400"/>
              <a:t>, </a:t>
            </a:r>
            <a:r>
              <a:rPr sz="1400">
                <a:latin typeface="Courier"/>
              </a:rPr>
              <a:t>eval*</a:t>
            </a:r>
            <a:r>
              <a:rPr sz="1400"/>
              <a:t>, watches, </a:t>
            </a:r>
            <a:r>
              <a:rPr sz="1400">
                <a:latin typeface="Courier"/>
              </a:rPr>
              <a:t>raw</a:t>
            </a:r>
            <a:r>
              <a:rPr sz="1400"/>
              <a:t>, команды с </a:t>
            </a:r>
            <a:r>
              <a:rPr sz="1400">
                <a:latin typeface="Courier"/>
              </a:rPr>
              <a:t>!</a:t>
            </a:r>
            <a:r>
              <a:rPr sz="1400"/>
              <a:t> и template preview могут раскрыть чувствительные данные; </a:t>
            </a:r>
            <a:r>
              <a:rPr sz="1400">
                <a:latin typeface="Courier"/>
              </a:rPr>
              <a:t>r!</a:t>
            </a:r>
            <a:r>
              <a:rPr sz="1400"/>
              <a:t> также передаёт их callbacks и job logs.</a:t>
            </a:r>
          </a:p>
          <a:p>
            <a:pPr lvl="0"/>
            <a:r>
              <a:rPr sz="1400">
                <a:latin typeface="Courier"/>
              </a:rPr>
              <a:t>--check</a:t>
            </a:r>
            <a:r>
              <a:rPr sz="1400"/>
              <a:t> не является sandbox: </a:t>
            </a:r>
            <a:r>
              <a:rPr sz="1400">
                <a:latin typeface="Courier"/>
              </a:rPr>
              <a:t>check_mode: false</a:t>
            </a:r>
            <a:r>
              <a:rPr sz="1400"/>
              <a:t>, lookup/action plugins, caches и внешние сервисы могут иметь реальные эффекты.</a:t>
            </a:r>
          </a:p>
          <a:p>
            <a:pPr lvl="0"/>
            <a:r>
              <a:rPr sz="1400">
                <a:latin typeface="Courier"/>
              </a:rPr>
              <a:t>changed</a:t>
            </a:r>
            <a:r>
              <a:rPr sz="1400"/>
              <a:t> в check mode — прогноз модуля; неподдерживаемые модули могут skip task или вернуть неполный result.</a:t>
            </a:r>
          </a:p>
          <a:p>
            <a:pPr lvl="0"/>
            <a:r>
              <a:rPr sz="1400">
                <a:latin typeface="Courier"/>
              </a:rPr>
              <a:t>s</a:t>
            </a:r>
            <a:r>
              <a:rPr sz="1400"/>
              <a:t> не запускает task; </a:t>
            </a:r>
            <a:r>
              <a:rPr sz="1400">
                <a:latin typeface="Courier"/>
              </a:rPr>
              <a:t>r</a:t>
            </a:r>
            <a:r>
              <a:rPr sz="1400"/>
              <a:t>, </a:t>
            </a:r>
            <a:r>
              <a:rPr sz="1400">
                <a:latin typeface="Courier"/>
              </a:rPr>
              <a:t>r!</a:t>
            </a:r>
            <a:r>
              <a:rPr sz="1400"/>
              <a:t>, </a:t>
            </a:r>
            <a:r>
              <a:rPr sz="1400">
                <a:latin typeface="Courier"/>
              </a:rPr>
              <a:t>g</a:t>
            </a:r>
            <a:r>
              <a:rPr sz="1400"/>
              <a:t>, </a:t>
            </a:r>
            <a:r>
              <a:rPr sz="1400">
                <a:latin typeface="Courier"/>
              </a:rPr>
              <a:t>c</a:t>
            </a:r>
            <a:r>
              <a:rPr sz="1400"/>
              <a:t> сохраняют обычную семантику текущего check mode.</a:t>
            </a:r>
          </a:p>
          <a:p>
            <a:pPr lvl="0"/>
            <a:r>
              <a:rPr sz="1400"/>
              <a:t>Для production нужны те же права, аудит и ограничения доступа к controller, что и для обычного </a:t>
            </a:r>
            <a:r>
              <a:rPr sz="1400">
                <a:latin typeface="Courier"/>
              </a:rPr>
              <a:t>ansible-playbook</a:t>
            </a:r>
            <a:r>
              <a:rPr sz="1400"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2026-09-25T08:16:01Z</dcterms:created>
  <dcterms:modified xsi:type="dcterms:W3CDTF">2026-09-25T08:16:01Z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